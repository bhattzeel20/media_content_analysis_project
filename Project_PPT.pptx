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70" r:id="rId12"/>
    <p:sldId id="271" r:id="rId13"/>
    <p:sldId id="272" r:id="rId14"/>
    <p:sldId id="263" r:id="rId15"/>
    <p:sldId id="264" r:id="rId16"/>
    <p:sldId id="265" r:id="rId17"/>
    <p:sldId id="266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25D4DD-C222-4F10-B78E-EF8543B4EECA}" type="datetimeFigureOut">
              <a:rPr lang="en-IN" smtClean="0"/>
              <a:t>25-03-2026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10C90A-FD79-4BFC-8F9D-DE1FBFE179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4655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0C90A-FD79-4BFC-8F9D-DE1FBFE1798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600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0C90A-FD79-4BFC-8F9D-DE1FBFE1798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0289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7469" y="542036"/>
            <a:ext cx="2129155" cy="6324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372725" cy="657225"/>
          </a:xfrm>
          <a:custGeom>
            <a:avLst/>
            <a:gdLst/>
            <a:ahLst/>
            <a:cxnLst/>
            <a:rect l="l" t="t" r="r" b="b"/>
            <a:pathLst>
              <a:path w="10372725" h="657225">
                <a:moveTo>
                  <a:pt x="10372725" y="0"/>
                </a:moveTo>
                <a:lnTo>
                  <a:pt x="0" y="0"/>
                </a:lnTo>
                <a:lnTo>
                  <a:pt x="0" y="657225"/>
                </a:lnTo>
                <a:lnTo>
                  <a:pt x="10372725" y="657225"/>
                </a:lnTo>
                <a:lnTo>
                  <a:pt x="10372725" y="0"/>
                </a:lnTo>
                <a:close/>
              </a:path>
            </a:pathLst>
          </a:custGeom>
          <a:solidFill>
            <a:srgbClr val="2535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696075"/>
            <a:ext cx="12192000" cy="161925"/>
          </a:xfrm>
          <a:custGeom>
            <a:avLst/>
            <a:gdLst/>
            <a:ahLst/>
            <a:cxnLst/>
            <a:rect l="l" t="t" r="r" b="b"/>
            <a:pathLst>
              <a:path w="12192000" h="161925">
                <a:moveTo>
                  <a:pt x="12192000" y="0"/>
                </a:moveTo>
                <a:lnTo>
                  <a:pt x="0" y="0"/>
                </a:lnTo>
                <a:lnTo>
                  <a:pt x="0" y="161925"/>
                </a:lnTo>
                <a:lnTo>
                  <a:pt x="12192000" y="161925"/>
                </a:lnTo>
                <a:lnTo>
                  <a:pt x="12192000" y="0"/>
                </a:lnTo>
                <a:close/>
              </a:path>
            </a:pathLst>
          </a:custGeom>
          <a:solidFill>
            <a:srgbClr val="34A75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26338" y="134286"/>
            <a:ext cx="1357906" cy="38646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69" y="542036"/>
            <a:ext cx="7387590" cy="91624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5907" y="1547749"/>
            <a:ext cx="10413365" cy="39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Franklin Gothic Medium"/>
                <a:cs typeface="Franklin Gothic Medium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/>
            <p:cNvSpPr/>
            <p:nvPr/>
          </p:nvSpPr>
          <p:spPr>
            <a:xfrm>
              <a:off x="0" y="3429000"/>
              <a:ext cx="390525" cy="3429000"/>
            </a:xfrm>
            <a:custGeom>
              <a:avLst/>
              <a:gdLst/>
              <a:ahLst/>
              <a:cxnLst/>
              <a:rect l="l" t="t" r="r" b="b"/>
              <a:pathLst>
                <a:path w="390525" h="3429000">
                  <a:moveTo>
                    <a:pt x="0" y="3429000"/>
                  </a:moveTo>
                  <a:lnTo>
                    <a:pt x="390524" y="3429000"/>
                  </a:lnTo>
                  <a:lnTo>
                    <a:pt x="390525" y="0"/>
                  </a:lnTo>
                  <a:lnTo>
                    <a:pt x="0" y="0"/>
                  </a:lnTo>
                  <a:lnTo>
                    <a:pt x="0" y="3429000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228600" cy="3429000"/>
            </a:xfrm>
            <a:custGeom>
              <a:avLst/>
              <a:gdLst/>
              <a:ahLst/>
              <a:cxnLst/>
              <a:rect l="l" t="t" r="r" b="b"/>
              <a:pathLst>
                <a:path w="228600" h="3429000">
                  <a:moveTo>
                    <a:pt x="228600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228600" y="342900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25356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505575"/>
              <a:ext cx="12192000" cy="352425"/>
            </a:xfrm>
            <a:custGeom>
              <a:avLst/>
              <a:gdLst/>
              <a:ahLst/>
              <a:cxnLst/>
              <a:rect l="l" t="t" r="r" b="b"/>
              <a:pathLst>
                <a:path w="12192000" h="352425">
                  <a:moveTo>
                    <a:pt x="0" y="352425"/>
                  </a:moveTo>
                  <a:lnTo>
                    <a:pt x="12192000" y="352425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52425"/>
                  </a:lnTo>
                  <a:close/>
                </a:path>
              </a:pathLst>
            </a:custGeom>
            <a:solidFill>
              <a:srgbClr val="34A7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841" y="405945"/>
              <a:ext cx="1595980" cy="4560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76849" y="173799"/>
              <a:ext cx="6415151" cy="651040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248399" y="304800"/>
              <a:ext cx="5515731" cy="6177428"/>
            </a:xfrm>
            <a:custGeom>
              <a:avLst/>
              <a:gdLst/>
              <a:ahLst/>
              <a:cxnLst/>
              <a:rect l="l" t="t" r="r" b="b"/>
              <a:pathLst>
                <a:path w="6115050" h="6210300">
                  <a:moveTo>
                    <a:pt x="611505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6115050" y="6210300"/>
                  </a:lnTo>
                  <a:lnTo>
                    <a:pt x="611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9000" y="852228"/>
              <a:ext cx="3785430" cy="4728697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711736" y="1341783"/>
            <a:ext cx="3202305" cy="40139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500" dirty="0">
                <a:latin typeface="Trebuchet MS"/>
                <a:cs typeface="Trebuchet MS"/>
              </a:rPr>
              <a:t>CAPSTONE</a:t>
            </a:r>
            <a:r>
              <a:rPr sz="2500" spc="-275" dirty="0">
                <a:latin typeface="Trebuchet MS"/>
                <a:cs typeface="Trebuchet MS"/>
              </a:rPr>
              <a:t> </a:t>
            </a:r>
            <a:r>
              <a:rPr sz="2500" spc="-90" dirty="0">
                <a:latin typeface="Trebuchet MS"/>
                <a:cs typeface="Trebuchet MS"/>
              </a:rPr>
              <a:t>PROJECT</a:t>
            </a:r>
            <a:endParaRPr sz="25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4803" y="1824760"/>
            <a:ext cx="10678364" cy="439928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en-IN" sz="4000" b="1" dirty="0"/>
              <a:t>Digital Media Content </a:t>
            </a:r>
          </a:p>
          <a:p>
            <a:pPr marL="12700">
              <a:spcBef>
                <a:spcPts val="105"/>
              </a:spcBef>
            </a:pPr>
            <a:r>
              <a:rPr lang="en-IN" sz="4000" b="1" dirty="0"/>
              <a:t>Analysis Using </a:t>
            </a:r>
          </a:p>
          <a:p>
            <a:pPr marL="12700">
              <a:spcBef>
                <a:spcPts val="105"/>
              </a:spcBef>
            </a:pPr>
            <a:r>
              <a:rPr lang="en-IN" sz="4000" b="1" dirty="0"/>
              <a:t>Netflix Dataset</a:t>
            </a:r>
          </a:p>
          <a:p>
            <a:pPr marL="12700">
              <a:spcBef>
                <a:spcPts val="105"/>
              </a:spcBef>
            </a:pPr>
            <a:endParaRPr lang="en-IN" sz="4000" b="1" dirty="0"/>
          </a:p>
          <a:p>
            <a:pPr marL="12700">
              <a:spcBef>
                <a:spcPts val="105"/>
              </a:spcBef>
            </a:pPr>
            <a:endParaRPr lang="en-IN" sz="4000" b="1" dirty="0"/>
          </a:p>
          <a:p>
            <a:pPr marL="12700">
              <a:spcBef>
                <a:spcPts val="105"/>
              </a:spcBef>
            </a:pPr>
            <a:r>
              <a:rPr sz="1550" b="1" spc="45" dirty="0">
                <a:latin typeface="Trebuchet MS"/>
                <a:cs typeface="Trebuchet MS"/>
              </a:rPr>
              <a:t>PRESENTED</a:t>
            </a:r>
            <a:r>
              <a:rPr sz="1550" b="1" spc="-75" dirty="0">
                <a:latin typeface="Trebuchet MS"/>
                <a:cs typeface="Trebuchet MS"/>
              </a:rPr>
              <a:t> </a:t>
            </a:r>
            <a:r>
              <a:rPr sz="1550" b="1" spc="-25" dirty="0">
                <a:latin typeface="Trebuchet MS"/>
                <a:cs typeface="Trebuchet MS"/>
              </a:rPr>
              <a:t>BY </a:t>
            </a:r>
            <a:endParaRPr lang="en-US" sz="1550" b="1" spc="-25" dirty="0">
              <a:latin typeface="Trebuchet MS"/>
              <a:cs typeface="Trebuchet MS"/>
            </a:endParaRPr>
          </a:p>
          <a:p>
            <a:pPr marL="12700">
              <a:spcBef>
                <a:spcPts val="105"/>
              </a:spcBef>
            </a:pPr>
            <a:r>
              <a:rPr sz="1550" b="1" dirty="0">
                <a:latin typeface="Trebuchet MS"/>
                <a:cs typeface="Trebuchet MS"/>
              </a:rPr>
              <a:t>STUDENT </a:t>
            </a:r>
            <a:r>
              <a:rPr sz="1550" b="1" spc="-20" dirty="0">
                <a:latin typeface="Trebuchet MS"/>
                <a:cs typeface="Trebuchet MS"/>
              </a:rPr>
              <a:t>NAME:</a:t>
            </a:r>
            <a:r>
              <a:rPr lang="en-US" sz="1550" b="1" spc="-20" dirty="0">
                <a:latin typeface="Trebuchet MS"/>
                <a:cs typeface="Trebuchet MS"/>
              </a:rPr>
              <a:t> Bhatt Zeel Pareshbhai</a:t>
            </a:r>
          </a:p>
          <a:p>
            <a:pPr marL="12700">
              <a:spcBef>
                <a:spcPts val="105"/>
              </a:spcBef>
            </a:pPr>
            <a:r>
              <a:rPr lang="en-US" sz="1550" b="1" dirty="0">
                <a:latin typeface="Trebuchet MS"/>
                <a:cs typeface="Trebuchet MS"/>
              </a:rPr>
              <a:t>COLLEGE</a:t>
            </a:r>
            <a:r>
              <a:rPr lang="en-US" sz="1550" b="1" spc="90" dirty="0">
                <a:latin typeface="Trebuchet MS"/>
                <a:cs typeface="Trebuchet MS"/>
              </a:rPr>
              <a:t> </a:t>
            </a:r>
            <a:r>
              <a:rPr lang="en-US" sz="1550" b="1" spc="-20" dirty="0">
                <a:latin typeface="Trebuchet MS"/>
                <a:cs typeface="Trebuchet MS"/>
              </a:rPr>
              <a:t>NAME: L. D. College of Engineering </a:t>
            </a:r>
          </a:p>
          <a:p>
            <a:pPr marL="12700">
              <a:spcBef>
                <a:spcPts val="105"/>
              </a:spcBef>
            </a:pPr>
            <a:r>
              <a:rPr lang="en-US" sz="1550" b="1" spc="-10" dirty="0">
                <a:latin typeface="Trebuchet MS"/>
                <a:cs typeface="Trebuchet MS"/>
              </a:rPr>
              <a:t>DEPARTMENT: Electronics &amp; Communication (EC)</a:t>
            </a:r>
          </a:p>
          <a:p>
            <a:pPr marL="12700">
              <a:spcBef>
                <a:spcPts val="105"/>
              </a:spcBef>
            </a:pPr>
            <a:r>
              <a:rPr lang="en-US" sz="1550" b="1" dirty="0">
                <a:latin typeface="Trebuchet MS"/>
                <a:cs typeface="Trebuchet MS"/>
              </a:rPr>
              <a:t>EMAIL</a:t>
            </a:r>
            <a:r>
              <a:rPr lang="en-US" sz="1550" b="1" spc="40" dirty="0">
                <a:latin typeface="Trebuchet MS"/>
                <a:cs typeface="Trebuchet MS"/>
              </a:rPr>
              <a:t> </a:t>
            </a:r>
            <a:r>
              <a:rPr lang="en-US" sz="1550" b="1" spc="-25" dirty="0">
                <a:latin typeface="Trebuchet MS"/>
                <a:cs typeface="Trebuchet MS"/>
              </a:rPr>
              <a:t>ID: bhatt.zeel.20@gmail.com</a:t>
            </a:r>
            <a:endParaRPr lang="en-US" sz="1550" dirty="0">
              <a:latin typeface="Trebuchet MS"/>
              <a:cs typeface="Trebuchet M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9946C3-59CC-778F-CF7B-BC3ED22821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5761" y="897295"/>
            <a:ext cx="3651907" cy="46804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7994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400" spc="-10" dirty="0"/>
              <a:t>OUTLINE:</a:t>
            </a:r>
            <a:endParaRPr sz="5400" dirty="0"/>
          </a:p>
        </p:txBody>
      </p:sp>
      <p:sp>
        <p:nvSpPr>
          <p:cNvPr id="3" name="object 3"/>
          <p:cNvSpPr txBox="1"/>
          <p:nvPr/>
        </p:nvSpPr>
        <p:spPr>
          <a:xfrm>
            <a:off x="512444" y="1703196"/>
            <a:ext cx="7107556" cy="3652923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318135" indent="-305435">
              <a:lnSpc>
                <a:spcPct val="100000"/>
              </a:lnSpc>
              <a:spcBef>
                <a:spcPts val="104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Problem</a:t>
            </a:r>
            <a:r>
              <a:rPr sz="2150" b="1" spc="22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Statement</a:t>
            </a:r>
            <a:r>
              <a:rPr sz="2150" b="1" spc="160" dirty="0">
                <a:latin typeface="Arial"/>
                <a:cs typeface="Arial"/>
              </a:rPr>
              <a:t> </a:t>
            </a:r>
            <a:r>
              <a:rPr sz="2150" dirty="0">
                <a:latin typeface="Arial MT"/>
                <a:cs typeface="Arial MT"/>
              </a:rPr>
              <a:t>(Should</a:t>
            </a:r>
            <a:r>
              <a:rPr sz="2150" spc="114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not</a:t>
            </a:r>
            <a:r>
              <a:rPr sz="2150" spc="120" dirty="0">
                <a:latin typeface="Arial MT"/>
                <a:cs typeface="Arial MT"/>
              </a:rPr>
              <a:t> </a:t>
            </a:r>
            <a:r>
              <a:rPr sz="2150" dirty="0">
                <a:latin typeface="Arial MT"/>
                <a:cs typeface="Arial MT"/>
              </a:rPr>
              <a:t>include</a:t>
            </a:r>
            <a:r>
              <a:rPr sz="2150" spc="19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solution)</a:t>
            </a:r>
            <a:endParaRPr sz="2150" dirty="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Proposed</a:t>
            </a:r>
            <a:r>
              <a:rPr sz="2150" b="1" spc="21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System/Solution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System</a:t>
            </a:r>
            <a:r>
              <a:rPr sz="2150" b="1" spc="20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Development</a:t>
            </a:r>
            <a:r>
              <a:rPr sz="2150" b="1" spc="3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Approach</a:t>
            </a:r>
            <a:r>
              <a:rPr sz="2150" b="1" spc="225" dirty="0">
                <a:latin typeface="Arial"/>
                <a:cs typeface="Arial"/>
              </a:rPr>
              <a:t> </a:t>
            </a:r>
            <a:r>
              <a:rPr sz="2150" dirty="0">
                <a:latin typeface="Arial MT"/>
                <a:cs typeface="Arial MT"/>
              </a:rPr>
              <a:t>(Technology</a:t>
            </a:r>
            <a:r>
              <a:rPr sz="2150" spc="140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Used)</a:t>
            </a:r>
            <a:endParaRPr sz="2150" dirty="0">
              <a:latin typeface="Arial MT"/>
              <a:cs typeface="Arial MT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Algorithm</a:t>
            </a:r>
            <a:r>
              <a:rPr sz="2150" b="1" spc="130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&amp;</a:t>
            </a:r>
            <a:r>
              <a:rPr sz="2150" b="1" spc="114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Deployment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Result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dirty="0">
                <a:latin typeface="Arial"/>
                <a:cs typeface="Arial"/>
              </a:rPr>
              <a:t>(Output</a:t>
            </a:r>
            <a:r>
              <a:rPr sz="2150" b="1" spc="17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Image)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Conclusion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875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dirty="0">
                <a:latin typeface="Arial"/>
                <a:cs typeface="Arial"/>
              </a:rPr>
              <a:t>Future</a:t>
            </a:r>
            <a:r>
              <a:rPr sz="2150" b="1" spc="155" dirty="0">
                <a:latin typeface="Arial"/>
                <a:cs typeface="Arial"/>
              </a:rPr>
              <a:t> </a:t>
            </a:r>
            <a:r>
              <a:rPr sz="2150" b="1" spc="-10" dirty="0">
                <a:latin typeface="Arial"/>
                <a:cs typeface="Arial"/>
              </a:rPr>
              <a:t>Scope</a:t>
            </a:r>
            <a:endParaRPr sz="2150" dirty="0">
              <a:latin typeface="Arial"/>
              <a:cs typeface="Arial"/>
            </a:endParaRPr>
          </a:p>
          <a:p>
            <a:pPr marL="318135" indent="-305435">
              <a:lnSpc>
                <a:spcPct val="100000"/>
              </a:lnSpc>
              <a:spcBef>
                <a:spcPts val="950"/>
              </a:spcBef>
              <a:buFont typeface="Arial MT"/>
              <a:buChar char="•"/>
              <a:tabLst>
                <a:tab pos="318135" algn="l"/>
              </a:tabLst>
            </a:pPr>
            <a:r>
              <a:rPr sz="2150" b="1" spc="-10" dirty="0">
                <a:latin typeface="Arial"/>
                <a:cs typeface="Arial"/>
              </a:rPr>
              <a:t>References</a:t>
            </a:r>
            <a:endParaRPr sz="2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31508"/>
            <a:ext cx="7387590" cy="916241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PROBLEM</a:t>
            </a:r>
            <a:r>
              <a:rPr spc="60" dirty="0"/>
              <a:t> </a:t>
            </a:r>
            <a:r>
              <a:rPr spc="-55" dirty="0"/>
              <a:t>STATEMENT: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5907" y="1547749"/>
            <a:ext cx="11458893" cy="4771113"/>
          </a:xfrm>
          <a:prstGeom prst="rect">
            <a:avLst/>
          </a:prstGeom>
        </p:spPr>
        <p:txBody>
          <a:bodyPr vert="horz" wrap="square" lIns="0" tIns="209232" rIns="0" bIns="0" rtlCol="0">
            <a:spAutoFit/>
          </a:bodyPr>
          <a:lstStyle/>
          <a:p>
            <a:pPr marL="106045" marR="5080" algn="l">
              <a:lnSpc>
                <a:spcPct val="150000"/>
              </a:lnSpc>
              <a:spcBef>
                <a:spcPts val="350"/>
              </a:spcBef>
            </a:pPr>
            <a:r>
              <a:rPr lang="en-US" dirty="0"/>
              <a:t>The entertainment and media industry has undergone a massive digital transformation with the rise of streaming platforms like Netflix. However, this rapid growth has introduced several critical challenges: </a:t>
            </a:r>
          </a:p>
          <a:p>
            <a:pPr marL="106045" marR="5080" algn="l">
              <a:lnSpc>
                <a:spcPct val="150000"/>
              </a:lnSpc>
              <a:spcBef>
                <a:spcPts val="350"/>
              </a:spcBef>
            </a:pPr>
            <a:r>
              <a:rPr lang="en-US" dirty="0"/>
              <a:t>• Content Overload: Millions of movies and shows are uploaded daily, making it difficult to understand content patterns and user preferences. </a:t>
            </a:r>
          </a:p>
          <a:p>
            <a:pPr marL="106045" marR="5080" algn="l">
              <a:lnSpc>
                <a:spcPct val="150000"/>
              </a:lnSpc>
              <a:spcBef>
                <a:spcPts val="350"/>
              </a:spcBef>
            </a:pPr>
            <a:r>
              <a:rPr lang="en-US" dirty="0"/>
              <a:t>• Audience Sentiment: Understanding how audiences perceive content descriptions is complex due to diverse tastes and rapidly changing trends. </a:t>
            </a:r>
          </a:p>
          <a:p>
            <a:pPr marL="106045" marR="5080" algn="l">
              <a:lnSpc>
                <a:spcPct val="150000"/>
              </a:lnSpc>
              <a:spcBef>
                <a:spcPts val="350"/>
              </a:spcBef>
            </a:pPr>
            <a:r>
              <a:rPr lang="en-US" dirty="0"/>
              <a:t>• Content Classification: Identifying the type and category of content based on available metadata is a major analytical challenge for platform optimization</a:t>
            </a: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85800"/>
            <a:ext cx="5833745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PROPOSED</a:t>
            </a:r>
            <a:r>
              <a:rPr spc="85" dirty="0"/>
              <a:t> </a:t>
            </a:r>
            <a:r>
              <a:rPr spc="-10" dirty="0"/>
              <a:t>SOLUTION: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9566" y="1517856"/>
            <a:ext cx="11512868" cy="4798108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US" sz="1600" b="1" dirty="0"/>
              <a:t>The proposed system analyzes user behavior, sentiment, and content popularity on Netflix using a multi-technique data analytics approach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endParaRPr lang="en-US" sz="1600" b="1" dirty="0"/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</a:t>
            </a:r>
            <a:r>
              <a:rPr lang="en-IN" sz="1600" b="1" dirty="0"/>
              <a:t>Data Collection &amp; Cleaning: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Collected Netflix titles dataset (8,807 records) and performed complete data cleaning and preprocessing.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endParaRPr lang="en-IN" sz="1600" dirty="0"/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</a:t>
            </a:r>
            <a:r>
              <a:rPr lang="en-IN" sz="1600" b="1" dirty="0"/>
              <a:t>Exploratory Data Analysis: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Performed EDA to identify content distribution patterns, genre trends, and country-wise production analysis.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endParaRPr lang="en-IN" sz="1600" dirty="0"/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</a:t>
            </a:r>
            <a:r>
              <a:rPr lang="en-IN" sz="1600" b="1" dirty="0"/>
              <a:t>NLP Sentiment Analysis: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Applied </a:t>
            </a:r>
            <a:r>
              <a:rPr lang="en-IN" sz="1600" dirty="0" err="1"/>
              <a:t>TextBlob</a:t>
            </a:r>
            <a:r>
              <a:rPr lang="en-IN" sz="1600" dirty="0"/>
              <a:t> NLP library to </a:t>
            </a:r>
            <a:r>
              <a:rPr lang="en-IN" sz="1600" dirty="0" err="1"/>
              <a:t>analyze</a:t>
            </a:r>
            <a:r>
              <a:rPr lang="en-IN" sz="1600" dirty="0"/>
              <a:t> sentiment of Netflix content descriptions — Positive, Negative, Neutral.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endParaRPr lang="en-IN" sz="1600" dirty="0"/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</a:t>
            </a:r>
            <a:r>
              <a:rPr lang="en-IN" sz="1600" b="1" dirty="0"/>
              <a:t>Machine Learning Model: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Built a Random Forest Classifier to predict content type (Movie vs TV Show) with 71.02% accuracy.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endParaRPr lang="en-IN" sz="1600" dirty="0"/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</a:t>
            </a:r>
            <a:r>
              <a:rPr lang="en-IN" sz="1600" b="1" dirty="0"/>
              <a:t>Power BI Dashboard: </a:t>
            </a:r>
          </a:p>
          <a:p>
            <a:pPr marL="12065" marR="5080">
              <a:spcBef>
                <a:spcPts val="275"/>
              </a:spcBef>
              <a:tabLst>
                <a:tab pos="318135" algn="l"/>
              </a:tabLst>
            </a:pPr>
            <a:r>
              <a:rPr lang="en-IN" sz="1600" dirty="0"/>
              <a:t>• Developed a 5-page interactive Power BI dashboard to visualize all insights and findings. </a:t>
            </a:r>
            <a:endParaRPr sz="16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422" y="638174"/>
            <a:ext cx="5452110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364105" algn="l"/>
              </a:tabLst>
            </a:pPr>
            <a:r>
              <a:rPr spc="-10" dirty="0"/>
              <a:t>SYSTEM</a:t>
            </a:r>
            <a:r>
              <a:rPr dirty="0"/>
              <a:t>	</a:t>
            </a:r>
            <a:r>
              <a:rPr spc="-10" dirty="0"/>
              <a:t>APPROACH:</a:t>
            </a: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6C7B92C0-982C-A734-0A14-5910058F7C72}"/>
              </a:ext>
            </a:extLst>
          </p:cNvPr>
          <p:cNvSpPr/>
          <p:nvPr/>
        </p:nvSpPr>
        <p:spPr>
          <a:xfrm>
            <a:off x="533400" y="1396999"/>
            <a:ext cx="5164772" cy="22860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70D5FA6-DDF7-BBF8-433A-2B02E3766EF5}"/>
              </a:ext>
            </a:extLst>
          </p:cNvPr>
          <p:cNvSpPr/>
          <p:nvPr/>
        </p:nvSpPr>
        <p:spPr>
          <a:xfrm>
            <a:off x="5867401" y="1396999"/>
            <a:ext cx="5029200" cy="2286000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9" name="Shape 11">
            <a:extLst>
              <a:ext uri="{FF2B5EF4-FFF2-40B4-BE49-F238E27FC236}">
                <a16:creationId xmlns:a16="http://schemas.microsoft.com/office/drawing/2014/main" id="{AA00ABD4-CDDB-8AB6-142F-89E79FD01AE2}"/>
              </a:ext>
            </a:extLst>
          </p:cNvPr>
          <p:cNvSpPr/>
          <p:nvPr/>
        </p:nvSpPr>
        <p:spPr>
          <a:xfrm>
            <a:off x="533400" y="3758566"/>
            <a:ext cx="5164772" cy="24612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14">
            <a:extLst>
              <a:ext uri="{FF2B5EF4-FFF2-40B4-BE49-F238E27FC236}">
                <a16:creationId xmlns:a16="http://schemas.microsoft.com/office/drawing/2014/main" id="{91DBB297-7EF9-4B15-C962-7BDE9FA6DFF5}"/>
              </a:ext>
            </a:extLst>
          </p:cNvPr>
          <p:cNvSpPr/>
          <p:nvPr/>
        </p:nvSpPr>
        <p:spPr>
          <a:xfrm>
            <a:off x="5867400" y="3758566"/>
            <a:ext cx="5029199" cy="246126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8F60EE-DBE4-F7DD-ED25-5C352771EB2B}"/>
              </a:ext>
            </a:extLst>
          </p:cNvPr>
          <p:cNvSpPr txBox="1"/>
          <p:nvPr/>
        </p:nvSpPr>
        <p:spPr>
          <a:xfrm>
            <a:off x="838200" y="1752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Franklin Gothic Medium" panose="020B0603020102020204" pitchFamily="34" charset="0"/>
              </a:rPr>
              <a:t>System Requirements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3DB6DD-45F6-AFEC-2D5E-CE4DD41F8C6E}"/>
              </a:ext>
            </a:extLst>
          </p:cNvPr>
          <p:cNvSpPr txBox="1"/>
          <p:nvPr/>
        </p:nvSpPr>
        <p:spPr>
          <a:xfrm>
            <a:off x="838200" y="2248297"/>
            <a:ext cx="446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800"/>
          </a:p>
          <a:p>
            <a:pPr marL="0" indent="0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Titles Dataset (CSV)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E0F53F-7DF1-FABD-B60A-3BB6993C4248}"/>
              </a:ext>
            </a:extLst>
          </p:cNvPr>
          <p:cNvSpPr txBox="1"/>
          <p:nvPr/>
        </p:nvSpPr>
        <p:spPr>
          <a:xfrm>
            <a:off x="729932" y="4038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Data Flow </a:t>
            </a:r>
            <a:endParaRPr lang="en-IN" b="1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8FF7E5-B107-27AA-EC99-A35809B9C1CA}"/>
              </a:ext>
            </a:extLst>
          </p:cNvPr>
          <p:cNvSpPr txBox="1"/>
          <p:nvPr/>
        </p:nvSpPr>
        <p:spPr>
          <a:xfrm>
            <a:off x="6087533" y="40386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Tools &amp; Platform</a:t>
            </a:r>
            <a:endParaRPr lang="en-IN" b="1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758F50-CF8E-3850-5A08-CF77D2C968AB}"/>
              </a:ext>
            </a:extLst>
          </p:cNvPr>
          <p:cNvSpPr txBox="1"/>
          <p:nvPr/>
        </p:nvSpPr>
        <p:spPr>
          <a:xfrm>
            <a:off x="6096000" y="1676400"/>
            <a:ext cx="457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Libraries Used</a:t>
            </a:r>
            <a:endParaRPr lang="en-IN" b="1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DAD089-C421-253B-9045-B916B15D7342}"/>
              </a:ext>
            </a:extLst>
          </p:cNvPr>
          <p:cNvSpPr txBox="1"/>
          <p:nvPr/>
        </p:nvSpPr>
        <p:spPr>
          <a:xfrm>
            <a:off x="6141667" y="2226706"/>
            <a:ext cx="4463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seaborn</a:t>
            </a:r>
            <a:endParaRPr lang="en-US" sz="1800" dirty="0"/>
          </a:p>
          <a:p>
            <a:pPr marL="0" indent="0">
              <a:buNone/>
            </a:pP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DE02C5-7E98-38BC-323E-194E8825B526}"/>
              </a:ext>
            </a:extLst>
          </p:cNvPr>
          <p:cNvSpPr txBox="1"/>
          <p:nvPr/>
        </p:nvSpPr>
        <p:spPr>
          <a:xfrm>
            <a:off x="823065" y="4844211"/>
            <a:ext cx="4463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CSV → Clean Data →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→ Sentiment Analysis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ML Model → Dashboard</a:t>
            </a:r>
            <a:endParaRPr lang="en-US" sz="18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845CF2-5929-EDD0-234F-DF11B7771698}"/>
              </a:ext>
            </a:extLst>
          </p:cNvPr>
          <p:cNvSpPr txBox="1"/>
          <p:nvPr/>
        </p:nvSpPr>
        <p:spPr>
          <a:xfrm>
            <a:off x="6170401" y="4844211"/>
            <a:ext cx="4463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</a:t>
            </a:r>
            <a:r>
              <a:rPr lang="en-US" sz="1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(Python)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(Dashboard)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(Code Repository)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39975"/>
            <a:ext cx="7387590" cy="916241"/>
          </a:xfrm>
          <a:prstGeom prst="rect">
            <a:avLst/>
          </a:prstGeom>
        </p:spPr>
        <p:txBody>
          <a:bodyPr vert="horz" wrap="square" lIns="0" tIns="992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ALGORITHM</a:t>
            </a:r>
            <a:r>
              <a:rPr spc="105" dirty="0"/>
              <a:t> </a:t>
            </a:r>
            <a:r>
              <a:rPr dirty="0"/>
              <a:t>&amp;</a:t>
            </a:r>
            <a:r>
              <a:rPr spc="20" dirty="0"/>
              <a:t> </a:t>
            </a:r>
            <a:r>
              <a:rPr spc="65" dirty="0"/>
              <a:t>D</a:t>
            </a:r>
            <a:r>
              <a:rPr spc="-10" dirty="0"/>
              <a:t>E</a:t>
            </a:r>
            <a:r>
              <a:rPr spc="60" dirty="0"/>
              <a:t>P</a:t>
            </a:r>
            <a:r>
              <a:rPr spc="-15" dirty="0"/>
              <a:t>L</a:t>
            </a:r>
            <a:r>
              <a:rPr spc="70" dirty="0"/>
              <a:t>O</a:t>
            </a:r>
            <a:r>
              <a:rPr spc="-10" dirty="0"/>
              <a:t>Y</a:t>
            </a:r>
            <a:r>
              <a:rPr spc="75" dirty="0"/>
              <a:t>M</a:t>
            </a:r>
            <a:r>
              <a:rPr spc="-10" dirty="0"/>
              <a:t>E</a:t>
            </a:r>
            <a:r>
              <a:rPr spc="65" dirty="0"/>
              <a:t>N</a:t>
            </a:r>
            <a:r>
              <a:rPr spc="-465" dirty="0"/>
              <a:t>T</a:t>
            </a:r>
            <a:r>
              <a:rPr spc="20" dirty="0"/>
              <a:t>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752600"/>
            <a:ext cx="11535093" cy="40575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Selected: Random Forest Classifier</a:t>
            </a:r>
            <a:endParaRPr lang="en-US" sz="1800" dirty="0"/>
          </a:p>
          <a:p>
            <a:pPr marL="685800" lvl="1" indent="-342900"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ML algorithm that builds multiple decision trees and combines their results for better accuracy.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Features:</a:t>
            </a:r>
            <a:endParaRPr lang="en-US" sz="1800" dirty="0"/>
          </a:p>
          <a:p>
            <a:pPr marL="685800" lvl="1" indent="-342900">
              <a:spcAft>
                <a:spcPts val="100"/>
              </a:spcAft>
              <a:buSzPct val="100000"/>
              <a:buChar char="•"/>
            </a:pP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release_year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rating_encoded</a:t>
            </a:r>
            <a:endParaRPr lang="en-US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lvl="1">
              <a:spcAft>
                <a:spcPts val="100"/>
              </a:spcAft>
              <a:buSzPct val="100000"/>
            </a:pPr>
            <a:endParaRPr lang="en-US" sz="1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Process:</a:t>
            </a:r>
            <a:endParaRPr lang="en-US" sz="1800" dirty="0"/>
          </a:p>
          <a:p>
            <a:pPr marL="685800" lvl="1" indent="-342900"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data used for training, 20% for testing.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 with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=42.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Process:</a:t>
            </a:r>
            <a:endParaRPr lang="en-US" sz="1800" dirty="0"/>
          </a:p>
          <a:p>
            <a:pPr marL="685800" lvl="1" indent="-342900"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predicts whether a Netflix title is a Movie (1) or TV Show (0) based on the 2 input features.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</a:t>
            </a:r>
            <a:endParaRPr lang="en-US" sz="1800" dirty="0"/>
          </a:p>
          <a:p>
            <a:pPr marL="685800" lvl="1" indent="-342900">
              <a:spcAft>
                <a:spcPts val="100"/>
              </a:spcAft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and evaluated in Google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Results and insights deployed via 5-page Power BI Dashboard.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" y="838200"/>
            <a:ext cx="5408931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 Model:</a:t>
            </a:r>
            <a:endParaRPr spc="2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03A14429-E29D-3CDF-B0BF-74AD2ED0E71B}"/>
              </a:ext>
            </a:extLst>
          </p:cNvPr>
          <p:cNvSpPr/>
          <p:nvPr/>
        </p:nvSpPr>
        <p:spPr>
          <a:xfrm>
            <a:off x="380999" y="1650999"/>
            <a:ext cx="2448433" cy="1593333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8B7FAFF3-0FCA-CAD6-6839-C1D014822F72}"/>
              </a:ext>
            </a:extLst>
          </p:cNvPr>
          <p:cNvSpPr/>
          <p:nvPr/>
        </p:nvSpPr>
        <p:spPr>
          <a:xfrm>
            <a:off x="3200401" y="1650998"/>
            <a:ext cx="2448433" cy="159333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2FF1013F-1B8E-6DD0-9E96-1BBBBEBAF270}"/>
              </a:ext>
            </a:extLst>
          </p:cNvPr>
          <p:cNvSpPr/>
          <p:nvPr/>
        </p:nvSpPr>
        <p:spPr>
          <a:xfrm>
            <a:off x="6002870" y="1650998"/>
            <a:ext cx="2448432" cy="1593331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14">
            <a:extLst>
              <a:ext uri="{FF2B5EF4-FFF2-40B4-BE49-F238E27FC236}">
                <a16:creationId xmlns:a16="http://schemas.microsoft.com/office/drawing/2014/main" id="{0502F486-DE69-E7E9-8049-847F28E5A855}"/>
              </a:ext>
            </a:extLst>
          </p:cNvPr>
          <p:cNvSpPr/>
          <p:nvPr/>
        </p:nvSpPr>
        <p:spPr>
          <a:xfrm>
            <a:off x="8796871" y="1642532"/>
            <a:ext cx="2448432" cy="1593331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664693-67A3-4D40-63B2-ABD2D1CE0664}"/>
              </a:ext>
            </a:extLst>
          </p:cNvPr>
          <p:cNvSpPr txBox="1"/>
          <p:nvPr/>
        </p:nvSpPr>
        <p:spPr>
          <a:xfrm>
            <a:off x="206946" y="3741282"/>
            <a:ext cx="845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</a:rPr>
              <a:t>Feature Importance — What helped the model predict?</a:t>
            </a:r>
            <a:endParaRPr lang="en-US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19414-06CD-A95D-71A1-7702541ACF0F}"/>
              </a:ext>
            </a:extLst>
          </p:cNvPr>
          <p:cNvSpPr txBox="1"/>
          <p:nvPr/>
        </p:nvSpPr>
        <p:spPr>
          <a:xfrm>
            <a:off x="501351" y="4383681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Rating encoded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451E6D-5A15-E4ED-0119-EC89A242AA1A}"/>
              </a:ext>
            </a:extLst>
          </p:cNvPr>
          <p:cNvSpPr txBox="1"/>
          <p:nvPr/>
        </p:nvSpPr>
        <p:spPr>
          <a:xfrm>
            <a:off x="518284" y="5387574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</a:rPr>
              <a:t>Release year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13" name="Shape 23">
            <a:extLst>
              <a:ext uri="{FF2B5EF4-FFF2-40B4-BE49-F238E27FC236}">
                <a16:creationId xmlns:a16="http://schemas.microsoft.com/office/drawing/2014/main" id="{93FBB9A1-306F-229D-29F5-285F5CDD615B}"/>
              </a:ext>
            </a:extLst>
          </p:cNvPr>
          <p:cNvSpPr/>
          <p:nvPr/>
        </p:nvSpPr>
        <p:spPr>
          <a:xfrm>
            <a:off x="2829432" y="5366901"/>
            <a:ext cx="6858000" cy="37776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23">
            <a:extLst>
              <a:ext uri="{FF2B5EF4-FFF2-40B4-BE49-F238E27FC236}">
                <a16:creationId xmlns:a16="http://schemas.microsoft.com/office/drawing/2014/main" id="{649DD638-6C55-9F05-2DF6-08E2291D3566}"/>
              </a:ext>
            </a:extLst>
          </p:cNvPr>
          <p:cNvSpPr/>
          <p:nvPr/>
        </p:nvSpPr>
        <p:spPr>
          <a:xfrm>
            <a:off x="2820969" y="4383681"/>
            <a:ext cx="6858000" cy="39003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20">
            <a:extLst>
              <a:ext uri="{FF2B5EF4-FFF2-40B4-BE49-F238E27FC236}">
                <a16:creationId xmlns:a16="http://schemas.microsoft.com/office/drawing/2014/main" id="{A3E4F6BB-B341-FE99-36AB-733A8FBCED1F}"/>
              </a:ext>
            </a:extLst>
          </p:cNvPr>
          <p:cNvSpPr/>
          <p:nvPr/>
        </p:nvSpPr>
        <p:spPr>
          <a:xfrm>
            <a:off x="2829433" y="4392148"/>
            <a:ext cx="4409568" cy="390038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7" name="Shape 20">
            <a:extLst>
              <a:ext uri="{FF2B5EF4-FFF2-40B4-BE49-F238E27FC236}">
                <a16:creationId xmlns:a16="http://schemas.microsoft.com/office/drawing/2014/main" id="{3697C448-A37F-2CBA-313B-2A91E3F550E6}"/>
              </a:ext>
            </a:extLst>
          </p:cNvPr>
          <p:cNvSpPr/>
          <p:nvPr/>
        </p:nvSpPr>
        <p:spPr>
          <a:xfrm>
            <a:off x="2829432" y="5373767"/>
            <a:ext cx="2305478" cy="386204"/>
          </a:xfrm>
          <a:prstGeom prst="rect">
            <a:avLst/>
          </a:prstGeom>
          <a:solidFill>
            <a:srgbClr val="E50914"/>
          </a:solidFill>
          <a:ln w="12700">
            <a:solidFill>
              <a:srgbClr val="E50914"/>
            </a:solidFill>
            <a:prstDash val="solid"/>
          </a:ln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0FD298-6083-F0A4-8C60-8C1D88077D23}"/>
              </a:ext>
            </a:extLst>
          </p:cNvPr>
          <p:cNvSpPr txBox="1"/>
          <p:nvPr/>
        </p:nvSpPr>
        <p:spPr>
          <a:xfrm>
            <a:off x="10078658" y="4383681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65%</a:t>
            </a:r>
            <a:endParaRPr lang="en-IN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A1577B-52F9-97CB-29FA-FF796F38AF45}"/>
              </a:ext>
            </a:extLst>
          </p:cNvPr>
          <p:cNvSpPr txBox="1"/>
          <p:nvPr/>
        </p:nvSpPr>
        <p:spPr>
          <a:xfrm>
            <a:off x="10078658" y="5366901"/>
            <a:ext cx="685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35%</a:t>
            </a:r>
            <a:endParaRPr lang="en-IN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C1AD73-9C37-4FF6-CEBE-8664F964C354}"/>
              </a:ext>
            </a:extLst>
          </p:cNvPr>
          <p:cNvSpPr txBox="1"/>
          <p:nvPr/>
        </p:nvSpPr>
        <p:spPr>
          <a:xfrm>
            <a:off x="896742" y="1862888"/>
            <a:ext cx="1617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71.02%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75075E-5066-A5AC-3334-76E46A8BABB9}"/>
              </a:ext>
            </a:extLst>
          </p:cNvPr>
          <p:cNvSpPr txBox="1"/>
          <p:nvPr/>
        </p:nvSpPr>
        <p:spPr>
          <a:xfrm>
            <a:off x="3722794" y="1864936"/>
            <a:ext cx="141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1,250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568599-32CD-489A-01AE-3DB7ED3F9EB2}"/>
              </a:ext>
            </a:extLst>
          </p:cNvPr>
          <p:cNvSpPr txBox="1"/>
          <p:nvPr/>
        </p:nvSpPr>
        <p:spPr>
          <a:xfrm>
            <a:off x="6521028" y="1862887"/>
            <a:ext cx="141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510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3CC4EC-4891-A250-8556-63EB71DBA185}"/>
              </a:ext>
            </a:extLst>
          </p:cNvPr>
          <p:cNvSpPr txBox="1"/>
          <p:nvPr/>
        </p:nvSpPr>
        <p:spPr>
          <a:xfrm>
            <a:off x="9352342" y="1862887"/>
            <a:ext cx="14121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1,760</a:t>
            </a:r>
            <a:endParaRPr lang="en-IN" sz="32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677613-3CCE-0923-1CF4-4775CA7C637D}"/>
              </a:ext>
            </a:extLst>
          </p:cNvPr>
          <p:cNvSpPr txBox="1"/>
          <p:nvPr/>
        </p:nvSpPr>
        <p:spPr>
          <a:xfrm>
            <a:off x="612201" y="2716767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Model Accuracy</a:t>
            </a:r>
            <a:endParaRPr lang="en-US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45706A-64B5-EBD5-BFFC-98787484BA70}"/>
              </a:ext>
            </a:extLst>
          </p:cNvPr>
          <p:cNvSpPr txBox="1"/>
          <p:nvPr/>
        </p:nvSpPr>
        <p:spPr>
          <a:xfrm>
            <a:off x="3289594" y="2716767"/>
            <a:ext cx="2292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Correct Predictions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66B8E53-501F-B9FD-5C9F-000F17133B1A}"/>
              </a:ext>
            </a:extLst>
          </p:cNvPr>
          <p:cNvSpPr txBox="1"/>
          <p:nvPr/>
        </p:nvSpPr>
        <p:spPr>
          <a:xfrm>
            <a:off x="6126418" y="2690636"/>
            <a:ext cx="2192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Wrong Predictions</a:t>
            </a:r>
            <a:endParaRPr lang="en-US" sz="1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E267C4-54F5-B00C-9AC4-557BE0A88CA3}"/>
              </a:ext>
            </a:extLst>
          </p:cNvPr>
          <p:cNvSpPr txBox="1"/>
          <p:nvPr/>
        </p:nvSpPr>
        <p:spPr>
          <a:xfrm>
            <a:off x="9144000" y="2716767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Total Tested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842E0-D6F0-D262-344A-8EC8666CE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79F061D-AEED-225A-9864-27D4385F42B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987487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Sentiment Analysis:</a:t>
            </a:r>
            <a:endParaRPr spc="20" dirty="0"/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41DC7776-2FB7-594F-218B-EBDA7ED7E9B7}"/>
              </a:ext>
            </a:extLst>
          </p:cNvPr>
          <p:cNvSpPr/>
          <p:nvPr/>
        </p:nvSpPr>
        <p:spPr>
          <a:xfrm>
            <a:off x="225859" y="2273587"/>
            <a:ext cx="3733801" cy="2082801"/>
          </a:xfrm>
          <a:prstGeom prst="rect">
            <a:avLst/>
          </a:prstGeom>
          <a:solidFill>
            <a:srgbClr val="217346"/>
          </a:solidFill>
          <a:ln w="12700">
            <a:solidFill>
              <a:srgbClr val="217346"/>
            </a:solidFill>
            <a:prstDash val="solid"/>
          </a:ln>
        </p:spPr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DF5CF4B3-2244-2655-2875-38846703E817}"/>
              </a:ext>
            </a:extLst>
          </p:cNvPr>
          <p:cNvSpPr/>
          <p:nvPr/>
        </p:nvSpPr>
        <p:spPr>
          <a:xfrm>
            <a:off x="4255282" y="2273587"/>
            <a:ext cx="3381652" cy="2057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11">
            <a:extLst>
              <a:ext uri="{FF2B5EF4-FFF2-40B4-BE49-F238E27FC236}">
                <a16:creationId xmlns:a16="http://schemas.microsoft.com/office/drawing/2014/main" id="{2526B9F0-F24F-9B35-F439-D50475DF14E6}"/>
              </a:ext>
            </a:extLst>
          </p:cNvPr>
          <p:cNvSpPr/>
          <p:nvPr/>
        </p:nvSpPr>
        <p:spPr>
          <a:xfrm>
            <a:off x="8091141" y="2267167"/>
            <a:ext cx="3534777" cy="2055353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12653-A2D0-1B67-8B12-868AAB68B945}"/>
              </a:ext>
            </a:extLst>
          </p:cNvPr>
          <p:cNvSpPr txBox="1"/>
          <p:nvPr/>
        </p:nvSpPr>
        <p:spPr>
          <a:xfrm>
            <a:off x="457200" y="5181601"/>
            <a:ext cx="1127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2D4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Over 51% of Netflix content descriptions use positive language, indicating Netflix intentionally crafts upbeat and engaging content summaries to attract viewers.</a:t>
            </a:r>
            <a:endParaRPr 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8E1B9-E111-D96B-122D-B46390447479}"/>
              </a:ext>
            </a:extLst>
          </p:cNvPr>
          <p:cNvSpPr txBox="1"/>
          <p:nvPr/>
        </p:nvSpPr>
        <p:spPr>
          <a:xfrm>
            <a:off x="1050034" y="2996114"/>
            <a:ext cx="21534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51.61%</a:t>
            </a:r>
            <a:endParaRPr lang="en-US" sz="3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CED700D-0FBE-75CD-AEB2-4E39510A459F}"/>
              </a:ext>
            </a:extLst>
          </p:cNvPr>
          <p:cNvSpPr txBox="1"/>
          <p:nvPr/>
        </p:nvSpPr>
        <p:spPr>
          <a:xfrm>
            <a:off x="5048432" y="3003620"/>
            <a:ext cx="19503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30.24%</a:t>
            </a:r>
            <a:endParaRPr lang="en-US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1EF7C3-A788-1FE8-E1AA-D59E19C4D167}"/>
              </a:ext>
            </a:extLst>
          </p:cNvPr>
          <p:cNvSpPr txBox="1"/>
          <p:nvPr/>
        </p:nvSpPr>
        <p:spPr>
          <a:xfrm>
            <a:off x="8838689" y="2959913"/>
            <a:ext cx="20386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18.15%</a:t>
            </a:r>
            <a:endParaRPr lang="en-US" sz="3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C1606-097D-620A-6483-D8948C6B3089}"/>
              </a:ext>
            </a:extLst>
          </p:cNvPr>
          <p:cNvSpPr txBox="1"/>
          <p:nvPr/>
        </p:nvSpPr>
        <p:spPr>
          <a:xfrm>
            <a:off x="597081" y="3783972"/>
            <a:ext cx="302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4,543 titles</a:t>
            </a:r>
            <a:endParaRPr lang="en-US" sz="18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F69B76-5BB3-D50C-7899-E60515B82E70}"/>
              </a:ext>
            </a:extLst>
          </p:cNvPr>
          <p:cNvSpPr txBox="1"/>
          <p:nvPr/>
        </p:nvSpPr>
        <p:spPr>
          <a:xfrm>
            <a:off x="4440183" y="3795833"/>
            <a:ext cx="316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2,662 titles</a:t>
            </a:r>
            <a:endParaRPr lang="en-US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ABE3FF-A892-2C13-EBBD-06FE3F8BB920}"/>
              </a:ext>
            </a:extLst>
          </p:cNvPr>
          <p:cNvSpPr txBox="1"/>
          <p:nvPr/>
        </p:nvSpPr>
        <p:spPr>
          <a:xfrm>
            <a:off x="8275107" y="3770293"/>
            <a:ext cx="3165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</a:rPr>
              <a:t>1,598 titles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1A809C-0857-C488-8534-EFFE806D356E}"/>
              </a:ext>
            </a:extLst>
          </p:cNvPr>
          <p:cNvSpPr txBox="1"/>
          <p:nvPr/>
        </p:nvSpPr>
        <p:spPr>
          <a:xfrm>
            <a:off x="225859" y="1489380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was performed on 8,807 Netflix content descriptions using the </a:t>
            </a:r>
            <a:r>
              <a:rPr lang="en-US" sz="18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TextBlob</a:t>
            </a: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NLP library:</a:t>
            </a: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A3B31C-C357-B921-E3A3-DA01CC1976E1}"/>
              </a:ext>
            </a:extLst>
          </p:cNvPr>
          <p:cNvSpPr txBox="1"/>
          <p:nvPr/>
        </p:nvSpPr>
        <p:spPr>
          <a:xfrm>
            <a:off x="654920" y="2398842"/>
            <a:ext cx="302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Positive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428FC5-D9A5-D692-C0B2-F9DDF0482C3A}"/>
              </a:ext>
            </a:extLst>
          </p:cNvPr>
          <p:cNvSpPr txBox="1"/>
          <p:nvPr/>
        </p:nvSpPr>
        <p:spPr>
          <a:xfrm>
            <a:off x="8292040" y="2398842"/>
            <a:ext cx="3021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Neutral</a:t>
            </a:r>
            <a:endParaRPr lang="en-US" sz="1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F5B401-1C26-D8E2-486A-30DFF11FE418}"/>
              </a:ext>
            </a:extLst>
          </p:cNvPr>
          <p:cNvSpPr txBox="1"/>
          <p:nvPr/>
        </p:nvSpPr>
        <p:spPr>
          <a:xfrm>
            <a:off x="4380000" y="2368170"/>
            <a:ext cx="316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Negative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690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56428-9596-5A51-5D48-7EA5BA0A6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D3CF680-F520-40D2-866C-E2A9B3E083E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10408274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b="0" dirty="0">
                <a:solidFill>
                  <a:srgbClr val="000000"/>
                </a:solidFill>
                <a:latin typeface="Arial Black" panose="020B0A04020102020204" pitchFamily="34" charset="0"/>
                <a:ea typeface="Arial Black" pitchFamily="34" charset="-122"/>
                <a:cs typeface="Arial" panose="020B0604020202020204" pitchFamily="34" charset="0"/>
              </a:rPr>
              <a:t>Power BI Dashboard:</a:t>
            </a:r>
            <a:endParaRPr b="0" spc="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932CAF-70F6-0C04-8C3D-579A7AF09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431" y="1361298"/>
            <a:ext cx="8977138" cy="5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40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32681-A298-1F32-2495-CE9DA2D9E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1D4C9FD-A7C9-326B-5611-6863E2A802D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1032103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Dashboard: </a:t>
            </a:r>
            <a:r>
              <a:rPr lang="en-US" sz="4000" b="0" dirty="0">
                <a:solidFill>
                  <a:srgbClr val="000000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Page 1</a:t>
            </a:r>
            <a:endParaRPr b="0" spc="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9B5F4B-C5FA-9F83-D4E3-83350FCB0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1" y="1395165"/>
            <a:ext cx="8969517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71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2ADE-C917-7506-C6E6-85E25AB7B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F65CAD4-09A1-D34A-615A-16742823EC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1032103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Dashboard: </a:t>
            </a:r>
            <a:r>
              <a:rPr lang="en-US" sz="4000" b="0" dirty="0">
                <a:solidFill>
                  <a:srgbClr val="000000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Page 2</a:t>
            </a:r>
            <a:endParaRPr b="0" spc="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390DE-63BA-0FC7-7412-48AC3EC16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242" y="1361298"/>
            <a:ext cx="8992379" cy="515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812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24433-9BDA-1C36-AF1B-6FE0B7C4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3B1168-2C54-9A88-2EB6-B1850E6C684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1032103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Dashboard: </a:t>
            </a:r>
            <a:r>
              <a:rPr lang="en-US" sz="4000" b="0" dirty="0">
                <a:solidFill>
                  <a:srgbClr val="000000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Page 3</a:t>
            </a:r>
            <a:endParaRPr b="0" spc="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97DAE-EECE-B383-7EA0-5FD0CC37B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109" y="1344365"/>
            <a:ext cx="9030483" cy="5128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62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F092-0A9C-B90F-7FE7-219AFB70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CACF69F-2936-4062-BE2B-5448B0CAFD3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9726" y="729074"/>
            <a:ext cx="10321032" cy="63222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70" dirty="0"/>
              <a:t>R</a:t>
            </a:r>
            <a:r>
              <a:rPr spc="-10" dirty="0"/>
              <a:t>E</a:t>
            </a:r>
            <a:r>
              <a:rPr spc="60" dirty="0"/>
              <a:t>S</a:t>
            </a:r>
            <a:r>
              <a:rPr spc="-5" dirty="0"/>
              <a:t>U</a:t>
            </a:r>
            <a:r>
              <a:rPr spc="-235" dirty="0"/>
              <a:t>L</a:t>
            </a:r>
            <a:r>
              <a:rPr spc="-459" dirty="0"/>
              <a:t>T</a:t>
            </a:r>
            <a:r>
              <a:rPr lang="en-US" spc="20" dirty="0"/>
              <a:t> - </a:t>
            </a:r>
            <a:r>
              <a:rPr lang="en-US" sz="40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Dashboard: </a:t>
            </a:r>
            <a:r>
              <a:rPr lang="en-US" sz="4000" b="0" dirty="0">
                <a:solidFill>
                  <a:srgbClr val="000000"/>
                </a:solidFill>
                <a:latin typeface="Arial" panose="020B0604020202020204" pitchFamily="34" charset="0"/>
                <a:ea typeface="Arial Black" pitchFamily="34" charset="-122"/>
                <a:cs typeface="Arial" panose="020B0604020202020204" pitchFamily="34" charset="0"/>
              </a:rPr>
              <a:t>Page 4</a:t>
            </a:r>
            <a:endParaRPr b="0" spc="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4B3EA0-5EAB-AD2B-DC17-46773BB76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175" y="1361298"/>
            <a:ext cx="8977138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97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685800"/>
            <a:ext cx="7387590" cy="9162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CONCLUSION: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1752600"/>
            <a:ext cx="11469371" cy="434913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lang="en-US" sz="2000" dirty="0"/>
              <a:t>This project successfully analyzed user behavior, audience sentiment, and content patterns on Netflix using multiple data science techniques: </a:t>
            </a:r>
          </a:p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lang="en-US" sz="2000" dirty="0"/>
              <a:t>• The EDA revealed that the USA dominates Netflix content production (3,690 titles) and Dramas are the most popular genre. </a:t>
            </a:r>
          </a:p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lang="en-US" sz="2000" dirty="0"/>
              <a:t>• NLP Sentiment Analysis showed that 51.61% of Netflix descriptions are positive, reflecting Netflix's strategy of using engaging language. </a:t>
            </a:r>
          </a:p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lang="en-US" sz="2000" dirty="0"/>
              <a:t>• The Random Forest ML model achieved 71.02% accuracy in predicting content type.</a:t>
            </a:r>
          </a:p>
          <a:p>
            <a:pPr marL="12700" marR="5080">
              <a:lnSpc>
                <a:spcPct val="150000"/>
              </a:lnSpc>
              <a:spcBef>
                <a:spcPts val="355"/>
              </a:spcBef>
            </a:pPr>
            <a:r>
              <a:rPr lang="en-US" sz="2000" dirty="0"/>
              <a:t>• The 5-page Power BI dashboard provides a comprehensive, interactive view of all insights supporting data-driven decision making in the entertainment domain</a:t>
            </a:r>
            <a:endParaRPr sz="2000" dirty="0">
              <a:latin typeface="Franklin Gothic Medium"/>
              <a:cs typeface="Franklin Gothic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2400" y="685800"/>
            <a:ext cx="7387590" cy="9162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dirty="0"/>
              <a:t>FUTURE</a:t>
            </a:r>
            <a:r>
              <a:rPr spc="35" dirty="0"/>
              <a:t> </a:t>
            </a:r>
            <a:r>
              <a:rPr spc="-10" dirty="0"/>
              <a:t>SCOPE: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28600" y="1371600"/>
            <a:ext cx="11582400" cy="4977900"/>
          </a:xfrm>
          <a:prstGeom prst="rect">
            <a:avLst/>
          </a:prstGeom>
        </p:spPr>
        <p:txBody>
          <a:bodyPr vert="horz" wrap="square" lIns="0" tIns="247014" rIns="0" bIns="0" rtlCol="0">
            <a:spAutoFit/>
          </a:bodyPr>
          <a:lstStyle/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Real-time Data Integration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Connect live Netflix API or social media data for real-time sentiment and trend analysis.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endParaRPr lang="en-IN" dirty="0"/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Deep Learning Models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Replace Random Forest with LSTM or BERT-based models for more accurate content classification and sentiment analysis.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endParaRPr lang="en-IN" dirty="0"/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Recommendation System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Build a collaborative filtering recommendation engine to suggest content based on user viewing patterns.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endParaRPr lang="en-IN" dirty="0"/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Multi-Platform Expansion </a:t>
            </a:r>
          </a:p>
          <a:p>
            <a:pPr marL="83820" marR="5080">
              <a:lnSpc>
                <a:spcPct val="91000"/>
              </a:lnSpc>
              <a:spcBef>
                <a:spcPts val="360"/>
              </a:spcBef>
            </a:pPr>
            <a:r>
              <a:rPr lang="en-IN" dirty="0"/>
              <a:t>• Extend analysis to other platforms like YouTube, Amazon Prime, and Disney+ for comparative media analytics</a:t>
            </a: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631508"/>
            <a:ext cx="7387590" cy="91624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30"/>
              </a:spcBef>
            </a:pPr>
            <a:r>
              <a:rPr spc="-10" dirty="0"/>
              <a:t>REFERENCES: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275907" y="1547749"/>
            <a:ext cx="11230293" cy="4223079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Dataset: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Netflix Movies and TV Shows Dataset - Kaggle (netflix_titles.csv)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endParaRPr lang="en-IN" dirty="0"/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Libraries: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pandas, </a:t>
            </a:r>
            <a:r>
              <a:rPr lang="en-IN" dirty="0" err="1"/>
              <a:t>numpy</a:t>
            </a:r>
            <a:r>
              <a:rPr lang="en-IN" dirty="0"/>
              <a:t>, matplotlib, seaborn - Python Data Analysis Libraries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 err="1"/>
              <a:t>TextBlob</a:t>
            </a:r>
            <a:r>
              <a:rPr lang="en-IN" dirty="0"/>
              <a:t> - NLP Sentiment Analysis Library (https://textblob.readthedocs.io)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scikit-learn - Machine Learning Library (https://scikit-learn.org)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endParaRPr lang="en-IN" dirty="0"/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Tools: Google </a:t>
            </a:r>
            <a:r>
              <a:rPr lang="en-IN" dirty="0" err="1"/>
              <a:t>Colab</a:t>
            </a:r>
            <a:r>
              <a:rPr lang="en-IN" dirty="0"/>
              <a:t> - Cloud-based Python IDE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Microsoft Power BI - Business Intelligence Dashboard Tool </a:t>
            </a:r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endParaRPr lang="en-IN" dirty="0"/>
          </a:p>
          <a:p>
            <a:pPr marL="12700" marR="5080">
              <a:lnSpc>
                <a:spcPct val="91200"/>
              </a:lnSpc>
              <a:spcBef>
                <a:spcPts val="355"/>
              </a:spcBef>
            </a:pPr>
            <a:r>
              <a:rPr lang="en-IN" dirty="0"/>
              <a:t>GitHub Link: https://github.com/bhattZeel20/Media_Content_Analysis_Project</a:t>
            </a:r>
            <a:endParaRPr u="sng" spc="-20" dirty="0">
              <a:solidFill>
                <a:srgbClr val="006FC0"/>
              </a:solidFill>
              <a:uFill>
                <a:solidFill>
                  <a:srgbClr val="006FC0"/>
                </a:solidFill>
              </a:u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54601" y="3028060"/>
            <a:ext cx="30937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dirty="0">
                <a:solidFill>
                  <a:srgbClr val="001F5F"/>
                </a:solidFill>
              </a:rPr>
              <a:t>Thank</a:t>
            </a:r>
            <a:r>
              <a:rPr sz="4800" spc="-195" dirty="0">
                <a:solidFill>
                  <a:srgbClr val="001F5F"/>
                </a:solidFill>
              </a:rPr>
              <a:t> </a:t>
            </a:r>
            <a:r>
              <a:rPr sz="4800" spc="-65" dirty="0">
                <a:solidFill>
                  <a:srgbClr val="001F5F"/>
                </a:solidFill>
              </a:rPr>
              <a:t>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</TotalTime>
  <Words>928</Words>
  <Application>Microsoft Office PowerPoint</Application>
  <PresentationFormat>Widescreen</PresentationFormat>
  <Paragraphs>141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Arial Black</vt:lpstr>
      <vt:lpstr>Arial MT</vt:lpstr>
      <vt:lpstr>Calibri</vt:lpstr>
      <vt:lpstr>Franklin Gothic Medium</vt:lpstr>
      <vt:lpstr>Trebuchet MS</vt:lpstr>
      <vt:lpstr>Office Theme</vt:lpstr>
      <vt:lpstr>CAPSTONE PROJECT</vt:lpstr>
      <vt:lpstr>OUTLINE:</vt:lpstr>
      <vt:lpstr>PROBLEM STATEMENT:</vt:lpstr>
      <vt:lpstr>PROPOSED SOLUTION:</vt:lpstr>
      <vt:lpstr>SYSTEM APPROACH:</vt:lpstr>
      <vt:lpstr>ALGORITHM &amp; DEPLOYMENT:</vt:lpstr>
      <vt:lpstr>RESULT - ML Model:</vt:lpstr>
      <vt:lpstr>RESULT - Sentiment Analysis:</vt:lpstr>
      <vt:lpstr>RESULT - Power BI Dashboard:</vt:lpstr>
      <vt:lpstr>RESULT - Power BI Dashboard: Page 1</vt:lpstr>
      <vt:lpstr>RESULT - Power BI Dashboard: Page 2</vt:lpstr>
      <vt:lpstr>RESULT - Power BI Dashboard: Page 3</vt:lpstr>
      <vt:lpstr>RESULT - Power BI Dashboard: Page 4</vt:lpstr>
      <vt:lpstr>CONCLUSION:</vt:lpstr>
      <vt:lpstr>FUTURE SCOPE:</vt:lpstr>
      <vt:lpstr>REFERENCES: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ZEEL BHATT</cp:lastModifiedBy>
  <cp:revision>12</cp:revision>
  <dcterms:created xsi:type="dcterms:W3CDTF">2026-03-24T07:24:07Z</dcterms:created>
  <dcterms:modified xsi:type="dcterms:W3CDTF">2026-03-25T17:15:49Z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2026-02-13T00:00:00Z</vt:filetime>
  </property>
  <property fmtid="{D5CDD505-2E9C-101B-9397-08002B2CF9AE}" pid="3" name="LastSaved">
    <vt:filetime>2026-03-24T00:00:00Z</vt:filetime>
  </property>
</Properties>
</file>